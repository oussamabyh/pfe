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14"/>
    <p:sldId id="268" r:id="rId15"/>
    <p:sldId id="269" r:id="rId16"/>
    <p:sldId id="271" r:id="rId17"/>
    <p:sldId id="276" r:id="rId18"/>
    <p:sldId id="277" r:id="rId19"/>
    <p:sldId id="278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972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502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ISLAMIQUE DE MAURITANIE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80467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DE NOUAKCHOTT  •  FACULTÉ DES SCIENCES ET TECHNIQUES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24248" y="14173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724248" y="1417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FIN D'ÉTUDES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Développement d'une application web pour</a:t>
            </a:r>
            <a:endParaRPr lang="en-US" sz="3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Gestion des Ressources Humaines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44288" y="3520440"/>
            <a:ext cx="2103120" cy="777240"/>
          </a:xfrm>
          <a:prstGeom prst="roundRect">
            <a:avLst>
              <a:gd name="adj" fmla="val 18824"/>
            </a:avLst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B112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44288" y="3520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SGRH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452628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l'obtention de la Licence en Développement, Administration d'Intranet et Internet (DA2I)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5166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Oussama Beyah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C23785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88175" y="5166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El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Veth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Sidi — Académique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Sidi Zein — Technique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SYSKAT Technologies  •  Année universitaire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2011680"/>
            <a:ext cx="4206240" cy="42062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5394960"/>
            <a:ext cx="3291840" cy="32918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17320" y="1600200"/>
            <a:ext cx="0" cy="4709160"/>
          </a:xfrm>
          <a:prstGeom prst="line">
            <a:avLst/>
          </a:prstGeom>
          <a:noFill/>
          <a:ln w="50800">
            <a:solidFill>
              <a:srgbClr val="EEF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1344168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61288" y="1344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1307592"/>
            <a:ext cx="7772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61288" y="2286000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61288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20240" y="2249424"/>
            <a:ext cx="7772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besoins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61288" y="3227832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61288" y="32278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3191256"/>
            <a:ext cx="7772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161288" y="4169664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61288" y="41696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4133088"/>
            <a:ext cx="7772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Implémentation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161288" y="5111496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61288" y="51114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20240" y="5074920"/>
            <a:ext cx="7772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161288" y="6053328"/>
            <a:ext cx="512064" cy="512064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61288" y="60533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920240" y="6016752"/>
            <a:ext cx="7772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SGRH — Soutenance de PFE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377440"/>
            <a:ext cx="2103120" cy="2103120"/>
          </a:xfrm>
          <a:prstGeom prst="roundRect">
            <a:avLst>
              <a:gd name="adj" fmla="val 15217"/>
            </a:avLst>
          </a:prstGeom>
          <a:solidFill>
            <a:srgbClr val="2563EB"/>
          </a:solidFill>
          <a:ln/>
          <a:effectLst>
            <a:outerShdw blurRad="127000" dist="38100" dir="5400000" algn="bl" rotWithShape="0">
              <a:srgbClr val="0B112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237744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840480" y="26060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86200" y="3703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 •  Problématique  •  Solution proposée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2011680"/>
            <a:ext cx="4206240" cy="42062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5394960"/>
            <a:ext cx="3291840" cy="32918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9448" y="1965960"/>
            <a:ext cx="3474720" cy="3246120"/>
          </a:xfrm>
          <a:prstGeom prst="roundRect">
            <a:avLst>
              <a:gd name="adj" fmla="val 394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89608" y="1554480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8" name="Image 0" descr="icons/graduati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592" y="1661465"/>
            <a:ext cx="608990" cy="6089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048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Cadre général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29488" y="3154680"/>
            <a:ext cx="2743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Pour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l'obtention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Administration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d'Intranet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et Internet (DA2I)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04208" y="1965960"/>
            <a:ext cx="3383280" cy="3246120"/>
          </a:xfrm>
          <a:prstGeom prst="roundRect">
            <a:avLst>
              <a:gd name="adj" fmla="val 394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84368" y="1554480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13" name="Image 1" descr="icons/buildin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352" y="1661465"/>
            <a:ext cx="608990" cy="6089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2808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Organisme d'accueil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24248" y="3154680"/>
            <a:ext cx="2743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Stage réalisé au sein de SYSKAT Technologies.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98968" y="1965960"/>
            <a:ext cx="3383280" cy="3246120"/>
          </a:xfrm>
          <a:prstGeom prst="roundRect">
            <a:avLst>
              <a:gd name="adj" fmla="val 394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79128" y="1554480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18" name="Image 2" descr="icons/mobi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6112" y="1661465"/>
            <a:ext cx="608990" cy="6089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27568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plateforme SGRH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519008" y="3154680"/>
            <a:ext cx="2743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web complète pour centraliser la gestion des ressources humaines de l'entreprise.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SGRH — Soutenance de PFE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2011680"/>
            <a:ext cx="4206240" cy="42062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5394960"/>
            <a:ext cx="3291840" cy="32918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9448" y="1965960"/>
            <a:ext cx="3383280" cy="3246120"/>
          </a:xfrm>
          <a:prstGeom prst="roundRect">
            <a:avLst>
              <a:gd name="adj" fmla="val 394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89608" y="1554480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8" name="Image 0" descr="icons/questi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592" y="1661465"/>
            <a:ext cx="608990" cy="6089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048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manuel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29488" y="3154680"/>
            <a:ext cx="2743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présences et des congés repose encore sur des fichiers Excel, lents et peu fiables.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04208" y="1965960"/>
            <a:ext cx="3383280" cy="3246120"/>
          </a:xfrm>
          <a:prstGeom prst="roundRect">
            <a:avLst>
              <a:gd name="adj" fmla="val 394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84368" y="1554480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13" name="Image 1" descr="icons/chartpi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352" y="1661465"/>
            <a:ext cx="608990" cy="6089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2808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vision globale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24248" y="3154680"/>
            <a:ext cx="2743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d'obtenir des statistiques fiables ou des rapports détaillés sur le personnel.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98968" y="1965960"/>
            <a:ext cx="3383280" cy="3246120"/>
          </a:xfrm>
          <a:prstGeom prst="roundRect">
            <a:avLst>
              <a:gd name="adj" fmla="val 394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79128" y="1554480"/>
            <a:ext cx="822960" cy="82296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18" name="Image 2" descr="icons/usersge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6112" y="1661465"/>
            <a:ext cx="608990" cy="6089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27568" y="2560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Rôles non séparés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519008" y="3154680"/>
            <a:ext cx="2743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séparation claire des responsabilités entre employés, managers et administrateurs.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SGRH — Soutenance de PFE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2011680"/>
            <a:ext cx="4206240" cy="42062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5394960"/>
            <a:ext cx="3291840" cy="32918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proposée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38048" y="1965960"/>
            <a:ext cx="5029200" cy="192024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12368" y="256032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8" name="Image 0" descr="icons/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465" y="2655418"/>
            <a:ext cx="541325" cy="5413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26768" y="22219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Centralisation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026768" y="271576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RH réunies dans une seule plateforme.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24448" y="1965960"/>
            <a:ext cx="5029200" cy="192024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98768" y="256032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13" name="Image 1" descr="icons/shiel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865" y="2655418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13168" y="22219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Sécurisation des pointages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513168" y="271576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combinée à la géolocalisation GPS.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8048" y="4297680"/>
            <a:ext cx="5029200" cy="192024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112368" y="489204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18" name="Image 2" descr="icons/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465" y="498713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26768" y="455371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Automatisation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026768" y="504748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Pointage, congés et rapports générés automatiquement.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324448" y="4297680"/>
            <a:ext cx="5029200" cy="192024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98768" y="489204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23" name="Image 3" descr="icons/usersge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865" y="4987138"/>
            <a:ext cx="541325" cy="5413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13168" y="455371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multi-rôles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513168" y="504748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Employé, manager et administrateur, chacun son espace dédié.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SGRH — Soutenance de PFE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377440"/>
            <a:ext cx="2103120" cy="2103120"/>
          </a:xfrm>
          <a:prstGeom prst="roundRect">
            <a:avLst>
              <a:gd name="adj" fmla="val 15217"/>
            </a:avLst>
          </a:prstGeom>
          <a:solidFill>
            <a:srgbClr val="2563EB"/>
          </a:solidFill>
          <a:ln/>
          <a:effectLst>
            <a:outerShdw blurRad="127000" dist="38100" dir="5400000" algn="bl" rotWithShape="0">
              <a:srgbClr val="0B112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237744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840480" y="26060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besoins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86200" y="3703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  •  Besoins non fonctionnels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2011680"/>
            <a:ext cx="4206240" cy="42062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5394960"/>
            <a:ext cx="3291840" cy="32918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fonctionnels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0868" y="187452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14704" y="2075688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8" name="Image 0" descr="icons/user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91" y="2161276"/>
            <a:ext cx="487192" cy="487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8028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par rôle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75508" y="187452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9344" y="2075688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12" name="Image 1" descr="icons/fingerprin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931" y="2161276"/>
            <a:ext cx="487192" cy="487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12668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biométrique + GPS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10148" y="187452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83984" y="2075688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16" name="Image 2" descr="icons/calend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571" y="2161276"/>
            <a:ext cx="487192" cy="487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7308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congés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044788" y="187452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018624" y="2075688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20" name="Image 3" descr="icons/usersge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211" y="2161276"/>
            <a:ext cx="487192" cy="4871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1948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employés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0868" y="406908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514704" y="4270248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24" name="Image 4" descr="icons/sitema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91" y="4355836"/>
            <a:ext cx="487192" cy="4871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8028" y="5029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Départements &amp; postes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3375508" y="406908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349344" y="4270248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28" name="Image 5" descr="icons/chartpi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931" y="4355836"/>
            <a:ext cx="487192" cy="4871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512668" y="5029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&amp; statistiques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210148" y="406908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32" name="Image 6" descr="icons/filecsv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6408" y="786384"/>
            <a:ext cx="487192" cy="48719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347308" y="5029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 err="1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Détection</a:t>
            </a: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automatique</a:t>
            </a: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des absences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9044788" y="406908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10018624" y="4270248"/>
            <a:ext cx="658368" cy="658368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36" name="Image 7" descr="icons/shield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4211" y="4355836"/>
            <a:ext cx="487192" cy="48719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181948" y="5029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/ désactivation des comptes</a:t>
            </a:r>
            <a:endParaRPr lang="en-US" sz="1250" dirty="0"/>
          </a:p>
        </p:txBody>
      </p:sp>
      <p:sp>
        <p:nvSpPr>
          <p:cNvPr id="38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SGRH — Soutenance de PFE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0C489190-0A38-66DB-5ABD-C7AADB116997}"/>
              </a:ext>
            </a:extLst>
          </p:cNvPr>
          <p:cNvSpPr/>
          <p:nvPr/>
        </p:nvSpPr>
        <p:spPr>
          <a:xfrm>
            <a:off x="7213406" y="43177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365F0144-7819-A6F9-8526-07E1D375F7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8562" y="4379217"/>
            <a:ext cx="246888" cy="246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2011680"/>
            <a:ext cx="4206240" cy="42062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5394960"/>
            <a:ext cx="3291840" cy="32918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besoins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non fonctionnels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99773" y="2057400"/>
            <a:ext cx="2148840" cy="2743200"/>
          </a:xfrm>
          <a:prstGeom prst="roundRect">
            <a:avLst>
              <a:gd name="adj" fmla="val 5106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248826" y="1720507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13" name="Image 1" descr="icons/display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674" y="1815605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077" y="2746895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Ergonomie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7077" y="3305556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 et accessible, même sans expertise technique.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087779" y="2028692"/>
            <a:ext cx="2148840" cy="2743200"/>
          </a:xfrm>
          <a:prstGeom prst="roundRect">
            <a:avLst>
              <a:gd name="adj" fmla="val 5106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17271" y="184696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18" name="Image 2" descr="icons/gaug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369" y="1954286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66144" y="283336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357584" y="3367926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155637" y="2179206"/>
            <a:ext cx="2148840" cy="2743200"/>
          </a:xfrm>
          <a:prstGeom prst="roundRect">
            <a:avLst>
              <a:gd name="adj" fmla="val 5106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804405" y="1881942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23" name="Image 3" descr="icons/mobile2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9502" y="1994860"/>
            <a:ext cx="541325" cy="5413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30011" y="2705901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Compatibilité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338517" y="3212478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Utilisable sur ordinateur, smartphone et tablette.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831172" y="2148840"/>
            <a:ext cx="2148840" cy="2743200"/>
          </a:xfrm>
          <a:prstGeom prst="roundRect">
            <a:avLst>
              <a:gd name="adj" fmla="val 5106"/>
            </a:avLst>
          </a:prstGeom>
          <a:solidFill>
            <a:srgbClr val="EEF4FF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539832" y="178308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28" name="Image 4" descr="icons/wrench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4929" y="1878178"/>
            <a:ext cx="541325" cy="5413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968332" y="26974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Maintenabilité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10014052" y="315468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structuré, facilitant les évolutions futures.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SGRH — Soutenance de PFE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377440"/>
            <a:ext cx="2103120" cy="2103120"/>
          </a:xfrm>
          <a:prstGeom prst="roundRect">
            <a:avLst>
              <a:gd name="adj" fmla="val 15217"/>
            </a:avLst>
          </a:prstGeom>
          <a:solidFill>
            <a:srgbClr val="2563EB"/>
          </a:solidFill>
          <a:ln/>
          <a:effectLst>
            <a:outerShdw blurRad="127000" dist="38100" dir="5400000" algn="bl" rotWithShape="0">
              <a:srgbClr val="0B112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237744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840480" y="26060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86200" y="3703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d'utilization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général</a:t>
            </a: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admin,  manger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2011680"/>
            <a:ext cx="4206240" cy="42062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5394960"/>
            <a:ext cx="3291840" cy="32918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4093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Conception: </a:t>
            </a:r>
            <a:r>
              <a:rPr lang="en-US" sz="1300" b="1" kern="0" spc="100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</a:t>
            </a: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100" dirty="0" err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d’Admin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00782" y="1161288"/>
            <a:ext cx="6190132" cy="5724144"/>
          </a:xfrm>
          <a:prstGeom prst="roundRect">
            <a:avLst>
              <a:gd name="adj" fmla="val 1597"/>
            </a:avLst>
          </a:prstGeom>
          <a:solidFill>
            <a:srgbClr val="FFFFFF"/>
          </a:solidFill>
          <a:ln w="19050">
            <a:solidFill>
              <a:srgbClr val="EEF4FF"/>
            </a:solidFill>
            <a:prstDash val="solid"/>
          </a:ln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SGRH — Soutenance de PFE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A7C50D1-02DC-7952-6F59-51DD40B7B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2772" y="424133"/>
            <a:ext cx="12376298" cy="61999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2011680"/>
            <a:ext cx="4206240" cy="42062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5394960"/>
            <a:ext cx="3291840" cy="32918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Conception: Manager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SGRH — Soutenance de PFE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3FFEEF5-3141-DCEE-E38F-7795C1F96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427" y="320040"/>
            <a:ext cx="12089218" cy="64282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BB2DFFA-237A-947E-A5E6-287CA55AB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8721" y="563525"/>
            <a:ext cx="12989442" cy="6305107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CD70B928-F39E-8632-33F4-43BA0E429845}"/>
              </a:ext>
            </a:extLst>
          </p:cNvPr>
          <p:cNvSpPr/>
          <p:nvPr/>
        </p:nvSpPr>
        <p:spPr>
          <a:xfrm>
            <a:off x="457200" y="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Conception: Employer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80340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377440"/>
            <a:ext cx="2103120" cy="2103120"/>
          </a:xfrm>
          <a:prstGeom prst="roundRect">
            <a:avLst>
              <a:gd name="adj" fmla="val 15217"/>
            </a:avLst>
          </a:prstGeom>
          <a:solidFill>
            <a:srgbClr val="2563EB"/>
          </a:solidFill>
          <a:ln/>
          <a:effectLst>
            <a:outerShdw blurRad="127000" dist="38100" dir="5400000" algn="bl" rotWithShape="0">
              <a:srgbClr val="0B112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237744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840480" y="26060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Implémentation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2011680"/>
            <a:ext cx="4206240" cy="42062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5394960"/>
            <a:ext cx="3291840" cy="32918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 et technologies</a:t>
            </a:r>
            <a:endParaRPr lang="en-US" sz="3000" dirty="0"/>
          </a:p>
        </p:txBody>
      </p:sp>
      <p:sp>
        <p:nvSpPr>
          <p:cNvPr id="34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SGRH — Soutenance de PFE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BAE28353-CF04-C977-0149-475A9A5D2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91" y="1958092"/>
            <a:ext cx="3951989" cy="1388612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FFBE8D09-ED2C-FCF9-B742-460073FDD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481" y="1684782"/>
            <a:ext cx="5730374" cy="2098548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F1F74BD9-561D-7E6B-53D0-D87551CE8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2493" y="3919790"/>
            <a:ext cx="5730374" cy="18850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377440"/>
            <a:ext cx="2103120" cy="2103120"/>
          </a:xfrm>
          <a:prstGeom prst="roundRect">
            <a:avLst>
              <a:gd name="adj" fmla="val 15217"/>
            </a:avLst>
          </a:prstGeom>
          <a:solidFill>
            <a:srgbClr val="2563EB"/>
          </a:solidFill>
          <a:ln/>
          <a:effectLst>
            <a:outerShdw blurRad="127000" dist="38100" dir="5400000" algn="bl" rotWithShape="0">
              <a:srgbClr val="0B112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237744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840480" y="26060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86200" y="3703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des principales interfaces de l'application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377440"/>
            <a:ext cx="2103120" cy="2103120"/>
          </a:xfrm>
          <a:prstGeom prst="roundRect">
            <a:avLst>
              <a:gd name="adj" fmla="val 15217"/>
            </a:avLst>
          </a:prstGeom>
          <a:solidFill>
            <a:srgbClr val="2563EB"/>
          </a:solidFill>
          <a:ln/>
          <a:effectLst>
            <a:outerShdw blurRad="127000" dist="38100" dir="5400000" algn="bl" rotWithShape="0">
              <a:srgbClr val="0B112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237744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840480" y="26060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86200" y="3703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Perspectives d'évolution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2011680"/>
            <a:ext cx="4206240" cy="42062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5394960"/>
            <a:ext cx="3291840" cy="3291840"/>
          </a:xfrm>
          <a:prstGeom prst="ellipse">
            <a:avLst/>
          </a:prstGeom>
          <a:solidFill>
            <a:srgbClr val="EEF4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&amp; perspectives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2221992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8" name="Image 0" descr="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28600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1214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rôles opérationnels : employé, manager, administrateur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880360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94436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7797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sécurisé par reconnaissance faciale et GPS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3538728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2" descr="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0273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4381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Détection</a:t>
            </a: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automatique</a:t>
            </a: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des absences</a:t>
            </a:r>
            <a:endParaRPr lang="en-US" sz="12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4197096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3" descr="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261104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0965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</a:t>
            </a:r>
            <a:r>
              <a:rPr lang="en-US" sz="13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modélisé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UML.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5508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d'évolution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6355080" y="21945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75569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21" name="Image 4" descr="icons/mobile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516" y="225399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49440" y="2194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Android / iOS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355080" y="28529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75569"/>
          </a:solidFill>
          <a:ln/>
          <a:effectLst>
            <a:outerShdw blurRad="101600" dist="25400" dir="5400000" algn="bl" rotWithShape="0">
              <a:srgbClr val="0B1120">
                <a:alpha val="10000"/>
              </a:srgbClr>
            </a:outerShdw>
          </a:effectLst>
        </p:spPr>
      </p:sp>
      <p:pic>
        <p:nvPicPr>
          <p:cNvPr id="24" name="Image 5" descr="icons/mone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516" y="2912364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28529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 paie automatisé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SGRH — Soutenance de PFE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4" name="Text Experience">
            <a:extLst>
              <a:ext uri="{FF2B5EF4-FFF2-40B4-BE49-F238E27FC236}">
                <a16:creationId xmlns:a16="http://schemas.microsoft.com/office/drawing/2014/main" id="{4D35EAA0-1E9E-C330-20F5-3D8AD2A1B9FC}"/>
              </a:ext>
            </a:extLst>
          </p:cNvPr>
          <p:cNvSpPr/>
          <p:nvPr/>
        </p:nvSpPr>
        <p:spPr>
          <a:xfrm>
            <a:off x="801340" y="137160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/>
              <a:t>Ce stage m'a permis d'acquérir plusieurs compétences</a:t>
            </a:r>
            <a:r>
              <a:rPr lang="en-US" sz="12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</a:t>
            </a:r>
            <a:r>
              <a:rPr lang="en-US" sz="1200" i="1" dirty="0" err="1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m'a</a:t>
            </a:r>
            <a:r>
              <a:rPr lang="en-US" sz="12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surtout </a:t>
            </a:r>
            <a:r>
              <a:rPr lang="en-US" sz="1200" i="1" dirty="0" err="1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appris</a:t>
            </a:r>
            <a:r>
              <a:rPr lang="en-US" sz="12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à </a:t>
            </a:r>
            <a:r>
              <a:rPr lang="en-US" sz="1200" i="1" dirty="0" err="1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travailler</a:t>
            </a:r>
            <a:r>
              <a:rPr lang="en-US" sz="12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200" i="1" dirty="0" err="1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</a:t>
            </a:r>
            <a:r>
              <a:rPr lang="en-US" sz="12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200" i="1" dirty="0" err="1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autonomie</a:t>
            </a:r>
            <a:r>
              <a:rPr lang="en-US" sz="12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et à </a:t>
            </a:r>
            <a:r>
              <a:rPr lang="en-US" sz="1200" i="1" dirty="0" err="1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résoudre</a:t>
            </a:r>
            <a:r>
              <a:rPr lang="en-US" sz="12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des </a:t>
            </a:r>
            <a:r>
              <a:rPr lang="en-US" sz="1200" i="1" dirty="0" err="1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problèmes</a:t>
            </a:r>
            <a:r>
              <a:rPr lang="en-US" sz="1200" i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techniques.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486400" cy="5486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4206240" cy="420624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44288" y="1965960"/>
            <a:ext cx="2103120" cy="777240"/>
          </a:xfrm>
          <a:prstGeom prst="roundRect">
            <a:avLst>
              <a:gd name="adj" fmla="val 18824"/>
            </a:avLst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B112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44288" y="19659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SGRH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réponses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521</Words>
  <Application>Microsoft Office PowerPoint</Application>
  <PresentationFormat>Grand écran</PresentationFormat>
  <Paragraphs>148</Paragraphs>
  <Slides>19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PFE - SGRH</dc:title>
  <dc:subject>PptxGenJS Presentation</dc:subject>
  <dc:creator>Oussama Beyah</dc:creator>
  <cp:lastModifiedBy>oussama oussama beyah</cp:lastModifiedBy>
  <cp:revision>11</cp:revision>
  <dcterms:created xsi:type="dcterms:W3CDTF">2026-07-04T01:47:05Z</dcterms:created>
  <dcterms:modified xsi:type="dcterms:W3CDTF">2026-07-07T10:00:58Z</dcterms:modified>
</cp:coreProperties>
</file>